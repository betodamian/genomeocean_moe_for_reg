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Casual intro. The question: can AI find regulatory elements in diverse microbes better than current tools, and crucially on data it hasn't seen.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822960"/>
            <a:ext cx="2377440" cy="2377440"/>
          </a:xfrm>
          <a:prstGeom prst="ellipse">
            <a:avLst/>
          </a:prstGeom>
          <a:solidFill>
            <a:srgbClr val="0F766E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321040" y="3657600"/>
            <a:ext cx="1737360" cy="1737360"/>
          </a:xfrm>
          <a:prstGeom prst="ellipse">
            <a:avLst/>
          </a:prstGeom>
          <a:solidFill>
            <a:srgbClr val="2DD4BF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66928"/>
            <a:ext cx="822960" cy="82296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B2530">
                <a:alpha val="13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772668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1600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 PLAN, CASUALLY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92024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hidden switches in microbial DNA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66928" y="33375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an AI with specialist “experts” spot regulatory elements better than today’s tools — even in microbes it’s never seen?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66928" y="4480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Beto Damian</a:t>
            </a:r>
            <a:pPr indent="0" marL="0">
              <a:buNone/>
            </a:pPr>
            <a:r>
              <a:rPr lang="en-US" sz="1250" dirty="0">
                <a:solidFill>
                  <a:srgbClr val="9FB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Joint Genome Institute    Mentor: Zhong Wang, PhD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tools have real blind spots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886200" cy="1417320"/>
          </a:xfrm>
          <a:prstGeom prst="roundRect">
            <a:avLst>
              <a:gd name="adj" fmla="val 6452"/>
            </a:avLst>
          </a:prstGeom>
          <a:solidFill>
            <a:srgbClr val="EAF7F5"/>
          </a:solidFill>
          <a:ln/>
          <a:effectLst>
            <a:outerShdw sx="100000" sy="100000" kx="0" ky="0" algn="bl" rotWithShape="0" blurRad="88900" dist="38100" dir="5400000">
              <a:srgbClr val="0B253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09928"/>
            <a:ext cx="566928" cy="566928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B2530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" y="1851660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618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Catalog-dependent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54480" y="198424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match a list of known examples. Not on the list? Missed.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709160" y="1417320"/>
            <a:ext cx="3886200" cy="1417320"/>
          </a:xfrm>
          <a:prstGeom prst="roundRect">
            <a:avLst>
              <a:gd name="adj" fmla="val 6452"/>
            </a:avLst>
          </a:prstGeom>
          <a:solidFill>
            <a:srgbClr val="EAF7F5"/>
          </a:solidFill>
          <a:ln/>
          <a:effectLst>
            <a:outerShdw sx="100000" sy="100000" kx="0" ky="0" algn="bl" rotWithShape="0" blurRad="88900" dist="38100" dir="5400000">
              <a:srgbClr val="0B253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65192" y="1709928"/>
            <a:ext cx="566928" cy="566928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B2530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6924" y="1851660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15000" y="1618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Biased to favorites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715000" y="198424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on E. coli, shaky on everything else.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035808"/>
            <a:ext cx="3886200" cy="1417320"/>
          </a:xfrm>
          <a:prstGeom prst="roundRect">
            <a:avLst>
              <a:gd name="adj" fmla="val 6452"/>
            </a:avLst>
          </a:prstGeom>
          <a:solidFill>
            <a:srgbClr val="EAF7F5"/>
          </a:solidFill>
          <a:ln/>
          <a:effectLst>
            <a:outerShdw sx="100000" sy="100000" kx="0" ky="0" algn="bl" rotWithShape="0" blurRad="88900" dist="38100" dir="5400000">
              <a:srgbClr val="0B253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328416"/>
            <a:ext cx="566928" cy="566928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B2530">
                <a:alpha val="13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" y="3470148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2369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divergence gap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554480" y="3602736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weirder the microbe, the worse they do.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4709160" y="3035808"/>
            <a:ext cx="3886200" cy="1417320"/>
          </a:xfrm>
          <a:prstGeom prst="roundRect">
            <a:avLst>
              <a:gd name="adj" fmla="val 6452"/>
            </a:avLst>
          </a:prstGeom>
          <a:solidFill>
            <a:srgbClr val="EAF7F5"/>
          </a:solidFill>
          <a:ln/>
          <a:effectLst>
            <a:outerShdw sx="100000" sy="100000" kx="0" ky="0" algn="bl" rotWithShape="0" blurRad="88900" dist="38100" dir="5400000">
              <a:srgbClr val="0B2530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65192" y="3328416"/>
            <a:ext cx="566928" cy="566928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B2530">
                <a:alpha val="13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6924" y="3470148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715000" y="32369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“dark matter”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715000" y="3602736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~half of microbial DNA isn’t catalogued at all.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462686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they’re limited by what we already know.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genome AI made of specialist experts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Mixture-of-Experts (MoE) model splits itself into specialist sub-networks. </a:t>
            </a:r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little “router”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decides which experts handle each chunk of DNA.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experts fire = the </a:t>
            </a:r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fingerprint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Junho showed it tracks what DNA </a:t>
            </a:r>
            <a:pPr indent="0" marL="0">
              <a:lnSpc>
                <a:spcPct val="110000"/>
              </a:lnSpc>
              <a:buNone/>
            </a:pPr>
            <a:r>
              <a:rPr lang="en-US" sz="1500" i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which species it’s from — so it should travel across microbes.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937760" y="1417320"/>
            <a:ext cx="3749040" cy="3108960"/>
          </a:xfrm>
          <a:prstGeom prst="roundRect">
            <a:avLst>
              <a:gd name="adj" fmla="val 2941"/>
            </a:avLst>
          </a:prstGeom>
          <a:solidFill>
            <a:srgbClr val="F2FAF9"/>
          </a:solidFill>
          <a:ln/>
          <a:effectLst>
            <a:outerShdw sx="100000" sy="100000" kx="0" ky="0" algn="bl" rotWithShape="0" blurRad="88900" dist="38100" dir="5400000">
              <a:srgbClr val="0B253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0" y="1783080"/>
            <a:ext cx="731520" cy="73152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B2530">
                <a:alpha val="13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96596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355080" y="19385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window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0" y="2697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router picks experts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257800" y="3154680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2DD4BF"/>
          </a:solidFill>
          <a:ln/>
        </p:spPr>
      </p:sp>
      <p:sp>
        <p:nvSpPr>
          <p:cNvPr id="12" name="Text 9"/>
          <p:cNvSpPr/>
          <p:nvPr/>
        </p:nvSpPr>
        <p:spPr>
          <a:xfrm>
            <a:off x="5257800" y="3310128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80760" y="3154680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0D9488"/>
          </a:solidFill>
          <a:ln/>
        </p:spPr>
      </p:sp>
      <p:sp>
        <p:nvSpPr>
          <p:cNvPr id="14" name="Text 11"/>
          <p:cNvSpPr/>
          <p:nvPr/>
        </p:nvSpPr>
        <p:spPr>
          <a:xfrm>
            <a:off x="6080760" y="3310128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903720" y="3154680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9FB8BF"/>
          </a:solidFill>
          <a:ln/>
        </p:spPr>
      </p:sp>
      <p:sp>
        <p:nvSpPr>
          <p:cNvPr id="16" name="Text 13"/>
          <p:cNvSpPr/>
          <p:nvPr/>
        </p:nvSpPr>
        <p:spPr>
          <a:xfrm>
            <a:off x="6903720" y="3310128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726680" y="3154680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7726680" y="3310128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257800" y="3931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experts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think the experts are built for this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Junho’s prior work on GenomeOcean-MoE: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947672" cy="2834640"/>
          </a:xfrm>
          <a:prstGeom prst="roundRect">
            <a:avLst>
              <a:gd name="adj" fmla="val 4695"/>
            </a:avLst>
          </a:prstGeom>
          <a:solidFill>
            <a:srgbClr val="EAF7F5"/>
          </a:solidFill>
          <a:ln/>
          <a:effectLst>
            <a:outerShdw sx="100000" sy="100000" kx="0" ky="0" algn="bl" rotWithShape="0" blurRad="88900" dist="38100" dir="5400000">
              <a:srgbClr val="0B253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43584" y="1810512"/>
            <a:ext cx="548640" cy="54864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B2530">
                <a:alpha val="13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0744" y="194767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2432304"/>
            <a:ext cx="1856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640080" y="3035808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Function, not species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58368" y="3493008"/>
            <a:ext cx="1728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ignores taxonomy — it travels. (lower is better)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587752" y="1572768"/>
            <a:ext cx="1947672" cy="2834640"/>
          </a:xfrm>
          <a:prstGeom prst="roundRect">
            <a:avLst>
              <a:gd name="adj" fmla="val 4695"/>
            </a:avLst>
          </a:prstGeom>
          <a:solidFill>
            <a:srgbClr val="EAF7F5"/>
          </a:solidFill>
          <a:ln/>
          <a:effectLst>
            <a:outerShdw sx="100000" sy="100000" kx="0" ky="0" algn="bl" rotWithShape="0" blurRad="88900" dist="38100" dir="5400000">
              <a:srgbClr val="0B253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82696" y="1810512"/>
            <a:ext cx="548640" cy="54864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B2530">
                <a:alpha val="13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56" y="194767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33472" y="2432304"/>
            <a:ext cx="1856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3.4×</a:t>
            </a:r>
            <a:endParaRPr lang="en-US" sz="2700" dirty="0"/>
          </a:p>
        </p:txBody>
      </p:sp>
      <p:sp>
        <p:nvSpPr>
          <p:cNvPr id="15" name="Text 11"/>
          <p:cNvSpPr/>
          <p:nvPr/>
        </p:nvSpPr>
        <p:spPr>
          <a:xfrm>
            <a:off x="2679192" y="3035808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Hits the right spots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2697480" y="3493008"/>
            <a:ext cx="1728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expert fires on intergenic DNA 3.4× over chance.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626864" y="1572768"/>
            <a:ext cx="1947672" cy="2834640"/>
          </a:xfrm>
          <a:prstGeom prst="roundRect">
            <a:avLst>
              <a:gd name="adj" fmla="val 4695"/>
            </a:avLst>
          </a:prstGeom>
          <a:solidFill>
            <a:srgbClr val="EAF7F5"/>
          </a:solidFill>
          <a:ln/>
          <a:effectLst>
            <a:outerShdw sx="100000" sy="100000" kx="0" ky="0" algn="bl" rotWithShape="0" blurRad="88900" dist="38100" dir="5400000">
              <a:srgbClr val="0B2530">
                <a:alpha val="13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321808" y="1810512"/>
            <a:ext cx="548640" cy="54864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B2530">
                <a:alpha val="13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8968" y="1947672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672584" y="2432304"/>
            <a:ext cx="1856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+0.559</a:t>
            </a:r>
            <a:endParaRPr lang="en-US" sz="2700" dirty="0"/>
          </a:p>
        </p:txBody>
      </p:sp>
      <p:sp>
        <p:nvSpPr>
          <p:cNvPr id="21" name="Text 16"/>
          <p:cNvSpPr/>
          <p:nvPr/>
        </p:nvSpPr>
        <p:spPr>
          <a:xfrm>
            <a:off x="4718304" y="3035808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Experts do real work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4736592" y="3493008"/>
            <a:ext cx="1728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one off → its function breaks (DiD).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665976" y="1572768"/>
            <a:ext cx="1947672" cy="2834640"/>
          </a:xfrm>
          <a:prstGeom prst="roundRect">
            <a:avLst>
              <a:gd name="adj" fmla="val 4695"/>
            </a:avLst>
          </a:prstGeom>
          <a:solidFill>
            <a:srgbClr val="EAF7F5"/>
          </a:solidFill>
          <a:ln/>
          <a:effectLst>
            <a:outerShdw sx="100000" sy="100000" kx="0" ky="0" algn="bl" rotWithShape="0" blurRad="88900" dist="38100" dir="5400000">
              <a:srgbClr val="0B2530">
                <a:alpha val="13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360920" y="1810512"/>
            <a:ext cx="548640" cy="54864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B2530">
                <a:alpha val="13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1947672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711696" y="2432304"/>
            <a:ext cx="1856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205M≈4B</a:t>
            </a:r>
            <a:endParaRPr lang="en-US" sz="2700" dirty="0"/>
          </a:p>
        </p:txBody>
      </p:sp>
      <p:sp>
        <p:nvSpPr>
          <p:cNvPr id="27" name="Text 21"/>
          <p:cNvSpPr/>
          <p:nvPr/>
        </p:nvSpPr>
        <p:spPr>
          <a:xfrm>
            <a:off x="6757416" y="3035808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for its size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6775704" y="3493008"/>
            <a:ext cx="1728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205M active params rival a 4B dense model.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WE’RE HUNTING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tiny switches that control genes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8138160" cy="932688"/>
          </a:xfrm>
          <a:prstGeom prst="roundRect">
            <a:avLst>
              <a:gd name="adj" fmla="val 9804"/>
            </a:avLst>
          </a:prstGeom>
          <a:solidFill>
            <a:srgbClr val="EAF7F5"/>
          </a:solidFill>
          <a:ln/>
          <a:effectLst>
            <a:outerShdw sx="100000" sy="100000" kx="0" ky="0" algn="bl" rotWithShape="0" blurRad="88900" dist="38100" dir="5400000">
              <a:srgbClr val="0B253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609344"/>
            <a:ext cx="548640" cy="54864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B2530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74650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563624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Promoters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00200" y="19202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“on” signal — where a gene starts being read.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496312"/>
            <a:ext cx="8138160" cy="932688"/>
          </a:xfrm>
          <a:prstGeom prst="roundRect">
            <a:avLst>
              <a:gd name="adj" fmla="val 9804"/>
            </a:avLst>
          </a:prstGeom>
          <a:solidFill>
            <a:srgbClr val="EAF7F5"/>
          </a:solidFill>
          <a:ln/>
          <a:effectLst>
            <a:outerShdw sx="100000" sy="100000" kx="0" ky="0" algn="bl" rotWithShape="0" blurRad="88900" dist="38100" dir="5400000">
              <a:srgbClr val="0B253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04672" y="2688336"/>
            <a:ext cx="548640" cy="54864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B2530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2825496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2642616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Ribosome binding sites (RBS)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600200" y="299923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“start here” tag for building the protein.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3575304"/>
            <a:ext cx="8138160" cy="932688"/>
          </a:xfrm>
          <a:prstGeom prst="roundRect">
            <a:avLst>
              <a:gd name="adj" fmla="val 9804"/>
            </a:avLst>
          </a:prstGeom>
          <a:solidFill>
            <a:srgbClr val="F2FAF9"/>
          </a:solidFill>
          <a:ln/>
          <a:effectLst>
            <a:outerShdw sx="100000" sy="100000" kx="0" ky="0" algn="bl" rotWithShape="0" blurRad="88900" dist="38100" dir="5400000">
              <a:srgbClr val="0B253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767328"/>
            <a:ext cx="548640" cy="54864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B2530">
                <a:alpha val="13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3904488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72160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Rho-dependent terminators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600200" y="4078224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“stop” signal — the trickiest, least catalogued one.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· THE GATE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First: does the signal even exist?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building anything, run a </a:t>
            </a:r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</a:t>
            </a:r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Can the frozen model’s embeddings + routing tell a promoter from a same-context lookalike on familiar data — better than a GC-matched coin flip?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349240" y="1417320"/>
            <a:ext cx="3337560" cy="1325880"/>
          </a:xfrm>
          <a:prstGeom prst="roundRect">
            <a:avLst>
              <a:gd name="adj" fmla="val 6897"/>
            </a:avLst>
          </a:prstGeom>
          <a:solidFill>
            <a:srgbClr val="EAF7F5"/>
          </a:solidFill>
          <a:ln/>
          <a:effectLst>
            <a:outerShdw sx="100000" sy="100000" kx="0" ky="0" algn="bl" rotWithShape="0" blurRad="88900" dist="38100" dir="5400000">
              <a:srgbClr val="0B253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05272" y="1673352"/>
            <a:ext cx="548640" cy="54864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B2530">
                <a:alpha val="13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2432" y="181051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355080" y="1783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Signal’s there → GO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355080" y="215798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full detector.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349240" y="2880360"/>
            <a:ext cx="3337560" cy="1325880"/>
          </a:xfrm>
          <a:prstGeom prst="roundRect">
            <a:avLst>
              <a:gd name="adj" fmla="val 6897"/>
            </a:avLst>
          </a:prstGeom>
          <a:solidFill>
            <a:srgbClr val="F2FAF9"/>
          </a:solidFill>
          <a:ln/>
          <a:effectLst>
            <a:outerShdw sx="100000" sy="100000" kx="0" ky="0" algn="bl" rotWithShape="0" blurRad="88900" dist="38100" dir="5400000">
              <a:srgbClr val="0B253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05272" y="3136392"/>
            <a:ext cx="548640" cy="548640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88900" dist="38100" dir="5400000">
              <a:srgbClr val="0B2530">
                <a:alpha val="13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2432" y="327355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5508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signal → DIAGNOSE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355080" y="362102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out why — still a result.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4864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reframes the phase as proof-of-concept — even a “no” is a publishable diagnosis.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CAREFUL PART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know it’s not just memorizing?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EAF7F5"/>
          </a:solidFill>
          <a:ln/>
          <a:effectLst>
            <a:outerShdw sx="100000" sy="100000" kx="0" ky="0" algn="bl" rotWithShape="0" blurRad="88900" dist="38100" dir="5400000">
              <a:srgbClr val="0B253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54480" y="1691640"/>
            <a:ext cx="594360" cy="59436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B2530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3070" y="1840230"/>
            <a:ext cx="297180" cy="2971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3957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by similarity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2834640"/>
            <a:ext cx="2249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out elements ≤ 60% similar to anything in training — not just by species.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91840" y="141732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EAF7F5"/>
          </a:solidFill>
          <a:ln/>
          <a:effectLst>
            <a:outerShdw sx="100000" sy="100000" kx="0" ky="0" algn="bl" rotWithShape="0" blurRad="88900" dist="38100" dir="5400000">
              <a:srgbClr val="0B253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97680" y="1691640"/>
            <a:ext cx="594360" cy="59436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B2530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6270" y="184023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56432" y="23957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 vs. unseen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474720" y="2834640"/>
            <a:ext cx="2249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familiar data (sanity), then find genuinely new sites (the real test).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035040" y="141732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EAF7F5"/>
          </a:solidFill>
          <a:ln/>
          <a:effectLst>
            <a:outerShdw sx="100000" sy="100000" kx="0" ky="0" algn="bl" rotWithShape="0" blurRad="88900" dist="38100" dir="5400000">
              <a:srgbClr val="0B253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40880" y="1691640"/>
            <a:ext cx="594360" cy="59436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B2530">
                <a:alpha val="13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9470" y="1840230"/>
            <a:ext cx="297180" cy="2971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99632" y="23957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20, locked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217920" y="2834640"/>
            <a:ext cx="2249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frozen train/validation split, committed to file. No peeking.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4864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heart of the plan — the win only counts on data the model truly hasn’t seen.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model, then train a simple probe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931920" cy="2971800"/>
          </a:xfrm>
          <a:prstGeom prst="roundRect">
            <a:avLst>
              <a:gd name="adj" fmla="val 3077"/>
            </a:avLst>
          </a:prstGeom>
          <a:solidFill>
            <a:srgbClr val="EAF7F5"/>
          </a:solidFill>
          <a:ln/>
          <a:effectLst>
            <a:outerShdw sx="100000" sy="100000" kx="0" ky="0" algn="bl" rotWithShape="0" blurRad="88900" dist="38100" dir="5400000">
              <a:srgbClr val="0B253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91640"/>
            <a:ext cx="566928" cy="566928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B2530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1833372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Read out two channels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46888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DNA windows through the frozen model and keep both its </a:t>
            </a:r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its </a:t>
            </a:r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fingerprint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experts-only signal a dense model can’t give.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754880" y="1417320"/>
            <a:ext cx="3931920" cy="2971800"/>
          </a:xfrm>
          <a:prstGeom prst="roundRect">
            <a:avLst>
              <a:gd name="adj" fmla="val 3077"/>
            </a:avLst>
          </a:prstGeom>
          <a:solidFill>
            <a:srgbClr val="F2FAF9"/>
          </a:solidFill>
          <a:ln/>
          <a:effectLst>
            <a:outerShdw sx="100000" sy="100000" kx="0" ky="0" algn="bl" rotWithShape="0" blurRad="88900" dist="38100" dir="5400000">
              <a:srgbClr val="0B253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029200" y="1691640"/>
            <a:ext cx="566928" cy="566928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B2530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0932" y="183337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60720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Train against lookalikes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029200" y="246888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probe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learns yes/no per element — with negatives that are </a:t>
            </a:r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same-context lookalikes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(promoter vs other intergenic), so it can’t cheat on “gene vs not-gene.”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THE SHOWDOWN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the field, fair and square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822960" cy="82296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B2530">
                <a:alpha val="13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6230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48132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held-out microbes, score our routing-aware detector against: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48640" y="2377440"/>
            <a:ext cx="8138160" cy="585216"/>
          </a:xfrm>
          <a:prstGeom prst="roundRect">
            <a:avLst>
              <a:gd name="adj" fmla="val 15625"/>
            </a:avLst>
          </a:prstGeom>
          <a:solidFill>
            <a:srgbClr val="EAF7F5"/>
          </a:solidFill>
          <a:ln/>
          <a:effectLst>
            <a:outerShdw sx="100000" sy="100000" kx="0" ky="0" algn="bl" rotWithShape="0" blurRad="88900" dist="38100" dir="5400000">
              <a:srgbClr val="0B2530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24871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tools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3291840" y="248716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BPROM, Prodigal’s SD scorer, RhoTermPredict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3072384"/>
            <a:ext cx="8138160" cy="585216"/>
          </a:xfrm>
          <a:prstGeom prst="roundRect">
            <a:avLst>
              <a:gd name="adj" fmla="val 15625"/>
            </a:avLst>
          </a:prstGeom>
          <a:solidFill>
            <a:srgbClr val="F2FAF9"/>
          </a:solidFill>
          <a:ln/>
          <a:effectLst>
            <a:outerShdw sx="100000" sy="100000" kx="0" ky="0" algn="bl" rotWithShape="0" blurRad="88900" dist="38100" dir="5400000">
              <a:srgbClr val="0B2530">
                <a:alpha val="13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68680" y="31821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genome AIs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3291840" y="318211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Nucleotide Transformer, DNABERT-2, Evo 2, ProkBERT, dense GO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3767328"/>
            <a:ext cx="8138160" cy="585216"/>
          </a:xfrm>
          <a:prstGeom prst="roundRect">
            <a:avLst>
              <a:gd name="adj" fmla="val 15625"/>
            </a:avLst>
          </a:prstGeom>
          <a:solidFill>
            <a:srgbClr val="EAF7F5"/>
          </a:solidFill>
          <a:ln/>
          <a:effectLst>
            <a:outerShdw sx="100000" sy="100000" kx="0" ky="0" algn="bl" rotWithShape="0" blurRad="88900" dist="38100" dir="5400000">
              <a:srgbClr val="0B2530">
                <a:alpha val="13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68680" y="387705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fair coin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3291840" y="387705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GC-content-matched random baseline — not naive shuffling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4864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bars to clear: beat the tools, AND routing+embeddings must beat embeddings-only.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THE CORE TEST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experts actually did it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expert that fires on an element, </a:t>
            </a:r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it off</a:t>
            </a:r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watch detection collapse — measured against </a:t>
            </a:r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intergenic DNA</a:t>
            </a:r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coding DNA, so the win is regulatory, not structural.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dense model has no expert to switch off — so this test is MoE-only by design.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532120" y="1463040"/>
            <a:ext cx="3154680" cy="2834640"/>
          </a:xfrm>
          <a:prstGeom prst="roundRect">
            <a:avLst>
              <a:gd name="adj" fmla="val 3226"/>
            </a:avLst>
          </a:prstGeom>
          <a:solidFill>
            <a:srgbClr val="EAF7F5"/>
          </a:solidFill>
          <a:ln/>
          <a:effectLst>
            <a:outerShdw sx="100000" sy="100000" kx="0" ky="0" algn="bl" rotWithShape="0" blurRad="88900" dist="38100" dir="5400000">
              <a:srgbClr val="0B253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0" y="1783080"/>
            <a:ext cx="548640" cy="54864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B2530">
                <a:alpha val="13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0" y="192024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577840" y="2432304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+0.559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5760720" y="306324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Junho’s result: switching off a real expert breaks its job far more than a control’s.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BRANCH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retraining stress-test (optional)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above uses the frozen model. This optional branch retrains it — purely to pressure-test the conclusions: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931920" cy="2240280"/>
          </a:xfrm>
          <a:prstGeom prst="roundRect">
            <a:avLst>
              <a:gd name="adj" fmla="val 4082"/>
            </a:avLst>
          </a:prstGeom>
          <a:solidFill>
            <a:srgbClr val="EAF7F5"/>
          </a:solidFill>
          <a:ln/>
          <a:effectLst>
            <a:outerShdw sx="100000" sy="100000" kx="0" ky="0" algn="bl" rotWithShape="0" blurRad="88900" dist="38100" dir="5400000">
              <a:srgbClr val="0B253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377440"/>
            <a:ext cx="566928" cy="566928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B2530">
                <a:alpha val="13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2519172"/>
            <a:ext cx="283464" cy="283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468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bug, re-check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22960" y="310896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review found a missing 2× weight rescale in upcycling. Re-run with it fixed and confirm the experts still specialize.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09160" y="2103120"/>
            <a:ext cx="3931920" cy="2240280"/>
          </a:xfrm>
          <a:prstGeom prst="roundRect">
            <a:avLst>
              <a:gd name="adj" fmla="val 4082"/>
            </a:avLst>
          </a:prstGeom>
          <a:solidFill>
            <a:srgbClr val="EAF7F5"/>
          </a:solidFill>
          <a:ln/>
          <a:effectLst>
            <a:outerShdw sx="100000" sy="100000" kx="0" ky="0" algn="bl" rotWithShape="0" blurRad="88900" dist="38100" dir="5400000">
              <a:srgbClr val="0B253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83480" y="2377440"/>
            <a:ext cx="566928" cy="566928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B2530">
                <a:alpha val="13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5212" y="2519172"/>
            <a:ext cx="283464" cy="2834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15000" y="2468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Leakage-free retrain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4983480" y="310896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with the validation genomes left out of pretraining — so success on unseen data can’t be memorization.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4864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the critical path — the team agreed frozen is primary and full retraining is likely unnecessary.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IT HONEST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can’t fully nail — and our fixes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138160" cy="676656"/>
          </a:xfrm>
          <a:prstGeom prst="roundRect">
            <a:avLst>
              <a:gd name="adj" fmla="val 13514"/>
            </a:avLst>
          </a:prstGeom>
          <a:solidFill>
            <a:srgbClr val="EAF7F5"/>
          </a:solidFill>
          <a:ln/>
          <a:effectLst>
            <a:outerShdw sx="100000" sy="100000" kx="0" ky="0" algn="bl" rotWithShape="0" blurRad="88900" dist="38100" dir="5400000">
              <a:srgbClr val="0B253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51790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Rho terminators are E. coli-heavy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60520" y="1517904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Rho as a deep E. coli case study; lean on promoters &amp; RBS for breadth.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157984"/>
            <a:ext cx="8138160" cy="676656"/>
          </a:xfrm>
          <a:prstGeom prst="roundRect">
            <a:avLst>
              <a:gd name="adj" fmla="val 13514"/>
            </a:avLst>
          </a:prstGeom>
          <a:solidFill>
            <a:srgbClr val="F2FAF9"/>
          </a:solidFill>
          <a:ln/>
          <a:effectLst>
            <a:outerShdw sx="100000" sy="100000" kx="0" ky="0" algn="bl" rotWithShape="0" blurRad="88900" dist="38100" dir="5400000">
              <a:srgbClr val="0B253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30428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bp/token blurs tiny motifs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60520" y="2304288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position in base-pairs; report exactly what’s resolvable.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944368"/>
            <a:ext cx="8138160" cy="676656"/>
          </a:xfrm>
          <a:prstGeom prst="roundRect">
            <a:avLst>
              <a:gd name="adj" fmla="val 13514"/>
            </a:avLst>
          </a:prstGeom>
          <a:solidFill>
            <a:srgbClr val="EAF7F5"/>
          </a:solidFill>
          <a:ln/>
          <a:effectLst>
            <a:outerShdw sx="100000" sy="100000" kx="0" ky="0" algn="bl" rotWithShape="0" blurRad="88900" dist="38100" dir="5400000">
              <a:srgbClr val="0B253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09067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 could teach GC, not biology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60520" y="309067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GC-matched lookalike decoys; score AUPRC, not raw accuracy.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730752"/>
            <a:ext cx="8138160" cy="676656"/>
          </a:xfrm>
          <a:prstGeom prst="roundRect">
            <a:avLst>
              <a:gd name="adj" fmla="val 13514"/>
            </a:avLst>
          </a:prstGeom>
          <a:solidFill>
            <a:srgbClr val="F2FAF9"/>
          </a:solidFill>
          <a:ln/>
          <a:effectLst>
            <a:outerShdw sx="100000" sy="100000" kx="0" ky="0" algn="bl" rotWithShape="0" blurRad="88900" dist="38100" dir="5400000">
              <a:srgbClr val="0B253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387705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elements are imbalanced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60520" y="387705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Imbalance-robust metrics; report per element, never just an average.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weeks, start to finish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512064" cy="512064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B253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389888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25880" y="13441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split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164592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genomes, build windows + decoys, lock the ≤60% similarity split.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002536"/>
            <a:ext cx="512064" cy="512064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B253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6928" y="2066544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325880" y="202082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 (gate)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25880" y="2322576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features, run the go/no-go signal check.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2679192"/>
            <a:ext cx="512064" cy="512064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B253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6928" y="2743200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325880" y="2697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&amp; benchmark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25880" y="299923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probes, score head-to-head vs tools and other AIs.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3355848"/>
            <a:ext cx="512064" cy="512064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B253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6928" y="3419856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325880" y="33741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experts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25880" y="367588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ablation, upcycled-vs-scratch, the unseen-data test.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4032504"/>
            <a:ext cx="512064" cy="512064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B253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66928" y="4096512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325880" y="40507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25880" y="4352544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Stats, the annotation prototype, figures — retraining branch if time.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291840"/>
            <a:ext cx="2377440" cy="2377440"/>
          </a:xfrm>
          <a:prstGeom prst="ellipse">
            <a:avLst/>
          </a:prstGeom>
          <a:solidFill>
            <a:srgbClr val="0F766E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-731520"/>
            <a:ext cx="2011680" cy="2011680"/>
          </a:xfrm>
          <a:prstGeom prst="ellipse">
            <a:avLst/>
          </a:prstGeom>
          <a:solidFill>
            <a:srgbClr val="2DD4BF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60520" y="685800"/>
            <a:ext cx="822960" cy="82296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B2530">
                <a:alpha val="13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6260" y="8915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691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205740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experts’ routing to find promoters, RBS &amp; terminators across diverse microbes — beating the tools, and proving the edge is really the experts.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14400" y="3749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914400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— especially on the unseen-data test or the ablation — very welcome.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GenomeOcean-MoE Research Plan</dc:title>
  <dc:subject>PptxGenJS Presentation</dc:subject>
  <dc:creator>Beto Damian</dc:creator>
  <cp:lastModifiedBy>Beto Damian</cp:lastModifiedBy>
  <cp:revision>1</cp:revision>
  <dcterms:created xsi:type="dcterms:W3CDTF">2026-06-23T23:15:12Z</dcterms:created>
  <dcterms:modified xsi:type="dcterms:W3CDTF">2026-06-23T23:15:12Z</dcterms:modified>
</cp:coreProperties>
</file>